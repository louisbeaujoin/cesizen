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3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r>
              <a:rPr lang="fr-FR" sz="1400" b="1">
                <a:solidFill>
                  <a:srgbClr val="1E3A5F"/>
                </a:solidFill>
              </a:rPr>
              <a:t>Outil principal /100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rgbClr val="00C26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1E3A5F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Laravel ★</c:v>
                </c:pt>
                <c:pt idx="1">
                  <c:v>NestJS</c:v>
                </c:pt>
                <c:pt idx="2">
                  <c:v>Django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</c:v>
                </c:pt>
                <c:pt idx="1">
                  <c:v>82</c:v>
                </c:pt>
                <c:pt idx="2">
                  <c:v>78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A95-4200-9F11-ACF02465BE5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r>
              <a:rPr lang="fr-FR" sz="1400" b="1">
                <a:solidFill>
                  <a:srgbClr val="1E3A5F"/>
                </a:solidFill>
              </a:rPr>
              <a:t>Base de données /100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rgbClr val="3B82F6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1E3A5F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PostgreSQL</c:v>
                </c:pt>
                <c:pt idx="1">
                  <c:v>MySQL ★</c:v>
                </c:pt>
                <c:pt idx="2">
                  <c:v>MongoDB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</c:v>
                </c:pt>
                <c:pt idx="1">
                  <c:v>85</c:v>
                </c:pt>
                <c:pt idx="2">
                  <c:v>60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9FC-46C7-9CAA-96591FA0947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fr-FR"/>
  <c:roundedCorners val="1"/>
  <c:style val="2"/>
  <c:chart>
    <c:title>
      <c:tx>
        <c:rich>
          <a:bodyPr/>
          <a:lstStyle/>
          <a:p>
            <a:r>
              <a:rPr lang="fr-FR" sz="1400" b="1">
                <a:solidFill>
                  <a:srgbClr val="1E3A5F"/>
                </a:solidFill>
              </a:rPr>
              <a:t>Répartition par type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dPt>
            <c:idx val="0"/>
            <c:bubble3D val="0"/>
            <c:spPr>
              <a:solidFill>
                <a:srgbClr val="00C264"/>
              </a:solidFill>
            </c:spPr>
            <c:extLst>
              <c:ext xmlns:c16="http://schemas.microsoft.com/office/drawing/2014/chart" uri="{C3380CC4-5D6E-409C-BE32-E72D297353CC}">
                <c16:uniqueId val="{00000001-2058-48B3-983D-A6E3C202B372}"/>
              </c:ext>
            </c:extLst>
          </c:dPt>
          <c:dPt>
            <c:idx val="1"/>
            <c:bubble3D val="0"/>
            <c:spPr>
              <a:solidFill>
                <a:srgbClr val="3B82F6"/>
              </a:solidFill>
            </c:spPr>
            <c:extLst>
              <c:ext xmlns:c16="http://schemas.microsoft.com/office/drawing/2014/chart" uri="{C3380CC4-5D6E-409C-BE32-E72D297353CC}">
                <c16:uniqueId val="{00000003-2058-48B3-983D-A6E3C202B372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</c:spPr>
            <c:extLst>
              <c:ext xmlns:c16="http://schemas.microsoft.com/office/drawing/2014/chart" uri="{C3380CC4-5D6E-409C-BE32-E72D297353CC}">
                <c16:uniqueId val="{00000005-2058-48B3-983D-A6E3C202B37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Unitaires</c:v>
                </c:pt>
                <c:pt idx="1">
                  <c:v>Fonctionnels</c:v>
                </c:pt>
                <c:pt idx="2">
                  <c:v>Smoke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34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058-48B3-983D-A6E3C202B37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r>
              <a:rPr lang="fr-FR" sz="1400" b="1">
                <a:solidFill>
                  <a:srgbClr val="1E3A5F"/>
                </a:solidFill>
              </a:rPr>
              <a:t>Tests par module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rgbClr val="00C26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1E3A5F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Comptes</c:v>
                </c:pt>
                <c:pt idx="1">
                  <c:v>Informations</c:v>
                </c:pt>
                <c:pt idx="2">
                  <c:v>Respiration</c:v>
                </c:pt>
                <c:pt idx="3">
                  <c:v>Autres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</c:v>
                </c:pt>
                <c:pt idx="1">
                  <c:v>8</c:v>
                </c:pt>
                <c:pt idx="2">
                  <c:v>15</c:v>
                </c:pt>
                <c:pt idx="3">
                  <c:v>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36B-41B1-B858-80EF8C7DD6E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023360"/>
            <a:ext cx="12191695" cy="73152"/>
          </a:xfrm>
          <a:prstGeom prst="rect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096512"/>
            <a:ext cx="12191695" cy="45720"/>
          </a:xfrm>
          <a:prstGeom prst="rect">
            <a:avLst/>
          </a:prstGeom>
          <a:solidFill>
            <a:srgbClr val="FFD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297680" y="731520"/>
            <a:ext cx="3657600" cy="640080"/>
          </a:xfrm>
          <a:prstGeom prst="rect">
            <a:avLst/>
          </a:prstGeom>
          <a:solidFill>
            <a:srgbClr val="00C264"/>
          </a:solidFill>
          <a:ln>
            <a:solidFill>
              <a:srgbClr val="00C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97680" y="73152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SOUTENANCE BLOC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CESIZen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>
                <a:solidFill>
                  <a:srgbClr val="FFDF5D"/>
                </a:solidFill>
                <a:latin typeface="Calibri"/>
              </a:rPr>
              <a:t>L'application de votre santé mentale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998067" y="4389120"/>
            <a:ext cx="2377440" cy="1463040"/>
          </a:xfrm>
          <a:prstGeom prst="rect">
            <a:avLst/>
          </a:prstGeom>
          <a:solidFill>
            <a:srgbClr val="F3F4F6"/>
          </a:solidFill>
          <a:ln w="31750">
            <a:solidFill>
              <a:srgbClr val="00C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98067" y="4389120"/>
            <a:ext cx="2377440" cy="91440"/>
          </a:xfrm>
          <a:prstGeom prst="rect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8067" y="457200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>
                <a:solidFill>
                  <a:srgbClr val="00C264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8067" y="53949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1E3A5F"/>
                </a:solidFill>
                <a:latin typeface="Calibri"/>
              </a:rPr>
              <a:t>modules livrés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107" y="4389120"/>
            <a:ext cx="2377440" cy="1463040"/>
          </a:xfrm>
          <a:prstGeom prst="rect">
            <a:avLst/>
          </a:prstGeom>
          <a:solidFill>
            <a:srgbClr val="F3F4F6"/>
          </a:solidFill>
          <a:ln w="317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04107" y="4389120"/>
            <a:ext cx="2377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04107" y="457200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>
                <a:solidFill>
                  <a:srgbClr val="3B82F6"/>
                </a:solidFill>
                <a:latin typeface="Calibri"/>
              </a:rPr>
              <a:t>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4107" y="53949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1E3A5F"/>
                </a:solidFill>
                <a:latin typeface="Calibri"/>
              </a:rPr>
              <a:t>tests verts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0147" y="4389120"/>
            <a:ext cx="2377440" cy="1463040"/>
          </a:xfrm>
          <a:prstGeom prst="rect">
            <a:avLst/>
          </a:prstGeom>
          <a:solidFill>
            <a:srgbClr val="F3F4F6"/>
          </a:solidFill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0147" y="4389120"/>
            <a:ext cx="237744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0147" y="457200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>
                <a:solidFill>
                  <a:srgbClr val="F59E0B"/>
                </a:solidFill>
                <a:latin typeface="Calibri"/>
              </a:rPr>
              <a:t>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0147" y="53949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1E3A5F"/>
                </a:solidFill>
                <a:latin typeface="Calibri"/>
              </a:rPr>
              <a:t>scénarios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16187" y="4389120"/>
            <a:ext cx="2377440" cy="1463040"/>
          </a:xfrm>
          <a:prstGeom prst="rect">
            <a:avLst/>
          </a:prstGeom>
          <a:solidFill>
            <a:srgbClr val="F3F4F6"/>
          </a:solidFill>
          <a:ln w="31750">
            <a:solidFill>
              <a:srgbClr val="FFD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816187" y="4389120"/>
            <a:ext cx="2377440" cy="91440"/>
          </a:xfrm>
          <a:prstGeom prst="rect">
            <a:avLst/>
          </a:prstGeom>
          <a:solidFill>
            <a:srgbClr val="FFD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16187" y="457200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>
                <a:solidFill>
                  <a:srgbClr val="FFDF5D"/>
                </a:solidFill>
                <a:latin typeface="Calibri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16187" y="53949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1E3A5F"/>
                </a:solidFill>
                <a:latin typeface="Calibri"/>
              </a:rPr>
              <a:t>réussite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Louis Beaujoin   •   CDA 2025 – 2026   •   Mai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73152"/>
          </a:xfrm>
          <a:prstGeom prst="rect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CESIZen — Soutenance Bloc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2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Sommaire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097280" cy="54864"/>
          </a:xfrm>
          <a:prstGeom prst="rect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82880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E3A5F"/>
                </a:solidFill>
                <a:latin typeface="Calibri"/>
              </a:rPr>
              <a:t>Pourquoi CESIZen ?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514600"/>
            <a:ext cx="502920" cy="502920"/>
          </a:xfrm>
          <a:prstGeom prst="ellipse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5146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51460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E3A5F"/>
                </a:solidFill>
                <a:latin typeface="Calibri"/>
              </a:rPr>
              <a:t>Ce qui a été livré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20040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E3A5F"/>
                </a:solidFill>
                <a:latin typeface="Calibri"/>
              </a:rPr>
              <a:t>Comment l'application est construite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886200"/>
            <a:ext cx="502920" cy="502920"/>
          </a:xfrm>
          <a:prstGeom prst="ellipse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886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88620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E3A5F"/>
                </a:solidFill>
                <a:latin typeface="Calibri"/>
              </a:rPr>
              <a:t>Pourquoi nous avons choisi ces technologies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572000"/>
            <a:ext cx="502920" cy="502920"/>
          </a:xfrm>
          <a:prstGeom prst="ellipse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5720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57200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E3A5F"/>
                </a:solidFill>
                <a:latin typeface="Calibri"/>
              </a:rPr>
              <a:t>Ce qui diffère du cahier des charges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5257800"/>
            <a:ext cx="502920" cy="502920"/>
          </a:xfrm>
          <a:prstGeom prst="ellipse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52578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25780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E3A5F"/>
                </a:solidFill>
                <a:latin typeface="Calibri"/>
              </a:rPr>
              <a:t>Sécurité et protection des données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0" y="1828800"/>
            <a:ext cx="502920" cy="502920"/>
          </a:xfrm>
          <a:prstGeom prst="ellipse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18288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182880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E3A5F"/>
                </a:solidFill>
                <a:latin typeface="Calibri"/>
              </a:rPr>
              <a:t>Démonstration</a:t>
            </a:r>
          </a:p>
        </p:txBody>
      </p:sp>
      <p:sp>
        <p:nvSpPr>
          <p:cNvPr id="29" name="Oval 28"/>
          <p:cNvSpPr/>
          <p:nvPr/>
        </p:nvSpPr>
        <p:spPr>
          <a:xfrm>
            <a:off x="6583680" y="2514600"/>
            <a:ext cx="502920" cy="502920"/>
          </a:xfrm>
          <a:prstGeom prst="ellipse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25146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251460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E3A5F"/>
                </a:solidFill>
                <a:latin typeface="Calibri"/>
              </a:rPr>
              <a:t>Les tests : 44 vérifications automatiques</a:t>
            </a:r>
          </a:p>
        </p:txBody>
      </p:sp>
      <p:sp>
        <p:nvSpPr>
          <p:cNvPr id="32" name="Oval 31"/>
          <p:cNvSpPr/>
          <p:nvPr/>
        </p:nvSpPr>
        <p:spPr>
          <a:xfrm>
            <a:off x="6583680" y="3200400"/>
            <a:ext cx="502920" cy="502920"/>
          </a:xfrm>
          <a:prstGeom prst="ellipse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0" y="32004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320040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E3A5F"/>
                </a:solidFill>
                <a:latin typeface="Calibri"/>
              </a:rPr>
              <a:t>Comment se valide la recette</a:t>
            </a:r>
          </a:p>
        </p:txBody>
      </p:sp>
      <p:sp>
        <p:nvSpPr>
          <p:cNvPr id="35" name="Oval 34"/>
          <p:cNvSpPr/>
          <p:nvPr/>
        </p:nvSpPr>
        <p:spPr>
          <a:xfrm>
            <a:off x="6583680" y="3886200"/>
            <a:ext cx="502920" cy="502920"/>
          </a:xfrm>
          <a:prstGeom prst="ellipse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0" y="3886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388620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E3A5F"/>
                </a:solidFill>
                <a:latin typeface="Calibri"/>
              </a:rPr>
              <a:t>Difficultés, apprentissages, perspectives</a:t>
            </a:r>
          </a:p>
        </p:txBody>
      </p:sp>
      <p:sp>
        <p:nvSpPr>
          <p:cNvPr id="38" name="Oval 37"/>
          <p:cNvSpPr/>
          <p:nvPr/>
        </p:nvSpPr>
        <p:spPr>
          <a:xfrm>
            <a:off x="6583680" y="4572000"/>
            <a:ext cx="502920" cy="502920"/>
          </a:xfrm>
          <a:prstGeom prst="ellipse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83680" y="45720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457200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E3A5F"/>
                </a:solidFill>
                <a:latin typeface="Calibri"/>
              </a:rPr>
              <a:t>Et la suite ?</a:t>
            </a:r>
          </a:p>
        </p:txBody>
      </p:sp>
      <p:sp>
        <p:nvSpPr>
          <p:cNvPr id="41" name="Oval 40"/>
          <p:cNvSpPr/>
          <p:nvPr/>
        </p:nvSpPr>
        <p:spPr>
          <a:xfrm>
            <a:off x="6583680" y="5257800"/>
            <a:ext cx="502920" cy="502920"/>
          </a:xfrm>
          <a:prstGeom prst="ellipse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83680" y="52578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525780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E3A5F"/>
                </a:solidFill>
                <a:latin typeface="Calibri"/>
              </a:rPr>
              <a:t>Conclusion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Louis Beaujoin — CDA 2025-2026 — Mai 2026</a:t>
            </a:r>
          </a:p>
        </p:txBody>
      </p:sp>
      <p:sp>
        <p:nvSpPr>
          <p:cNvPr id="45" name="TextBox 41"/>
          <p:cNvSpPr txBox="1"/>
          <p:nvPr/>
        </p:nvSpPr>
        <p:spPr>
          <a:xfrm>
            <a:off x="6583680" y="59436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46" name="TextBox 42"/>
          <p:cNvSpPr txBox="1"/>
          <p:nvPr/>
        </p:nvSpPr>
        <p:spPr>
          <a:xfrm>
            <a:off x="7269480" y="594360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E3A5F"/>
                </a:solidFill>
                <a:latin typeface="Calibri"/>
              </a:rPr>
              <a:t>MLD de la base de données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73152"/>
          </a:xfrm>
          <a:prstGeom prst="rect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CESIZen — Soutenance Bloc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3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Pourquoi CESIZen 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097280" cy="54864"/>
          </a:xfrm>
          <a:prstGeom prst="rect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C264"/>
                </a:solidFill>
                <a:latin typeface="Calibri"/>
              </a:rPr>
              <a:t>Une plateforme grand public pour accompagner la santé mentale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72287" y="2194560"/>
            <a:ext cx="3566160" cy="2743200"/>
          </a:xfrm>
          <a:prstGeom prst="rect">
            <a:avLst/>
          </a:prstGeom>
          <a:solidFill>
            <a:srgbClr val="F3F4F6"/>
          </a:solidFill>
          <a:ln w="317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843887" y="2468880"/>
            <a:ext cx="822960" cy="8229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2287" y="2514600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287" y="342900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E3A5F"/>
                </a:solidFill>
                <a:latin typeface="Calibri"/>
              </a:rPr>
              <a:t>Pour qui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167" y="402336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1E3A5F"/>
                </a:solidFill>
                <a:latin typeface="Calibri"/>
              </a:rPr>
              <a:t>Le grand public,
tous les âges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2767" y="2194560"/>
            <a:ext cx="3566160" cy="2743200"/>
          </a:xfrm>
          <a:prstGeom prst="rect">
            <a:avLst/>
          </a:prstGeom>
          <a:solidFill>
            <a:srgbClr val="F3F4F6"/>
          </a:solidFill>
          <a:ln w="31750">
            <a:solidFill>
              <a:srgbClr val="00C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684367" y="2468880"/>
            <a:ext cx="822960" cy="822960"/>
          </a:xfrm>
          <a:prstGeom prst="ellipse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12767" y="2514600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2767" y="342900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E3A5F"/>
                </a:solidFill>
                <a:latin typeface="Calibri"/>
              </a:rPr>
              <a:t>Pour quoi faire 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5647" y="402336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1E3A5F"/>
                </a:solidFill>
                <a:latin typeface="Calibri"/>
              </a:rPr>
              <a:t>Informer et aider
à gérer le stress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53247" y="2194560"/>
            <a:ext cx="3566160" cy="2743200"/>
          </a:xfrm>
          <a:prstGeom prst="rect">
            <a:avLst/>
          </a:prstGeom>
          <a:solidFill>
            <a:srgbClr val="F3F4F6"/>
          </a:solidFill>
          <a:ln w="317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524847" y="2468880"/>
            <a:ext cx="822960" cy="8229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53247" y="2514600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3247" y="342900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E3A5F"/>
                </a:solidFill>
                <a:latin typeface="Calibri"/>
              </a:rPr>
              <a:t>Qui commande 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6127" y="402336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1E3A5F"/>
                </a:solidFill>
                <a:latin typeface="Calibri"/>
              </a:rPr>
              <a:t>Ministère de la Santé
et de la Prévention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212080"/>
            <a:ext cx="2682163" cy="1188720"/>
          </a:xfrm>
          <a:prstGeom prst="rect">
            <a:avLst/>
          </a:prstGeom>
          <a:solidFill>
            <a:srgbClr val="F3F4F6"/>
          </a:solidFill>
          <a:ln w="317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5212080"/>
            <a:ext cx="2682163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577840"/>
            <a:ext cx="2682163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dirty="0">
                <a:solidFill>
                  <a:srgbClr val="1E3A5F"/>
                </a:solidFill>
                <a:latin typeface="Calibri"/>
              </a:rPr>
              <a:t>75 k€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199" y="5394960"/>
            <a:ext cx="2682163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dirty="0">
                <a:solidFill>
                  <a:srgbClr val="1E3A5F"/>
                </a:solidFill>
                <a:latin typeface="Calibri"/>
              </a:rPr>
              <a:t>budget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22243" y="5212080"/>
            <a:ext cx="2682163" cy="1188720"/>
          </a:xfrm>
          <a:prstGeom prst="rect">
            <a:avLst/>
          </a:prstGeom>
          <a:solidFill>
            <a:srgbClr val="F3F4F6"/>
          </a:solidFill>
          <a:ln w="317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322243" y="5212080"/>
            <a:ext cx="2682163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322243" y="5577840"/>
            <a:ext cx="2682163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dirty="0">
                <a:solidFill>
                  <a:srgbClr val="3B82F6"/>
                </a:solidFill>
                <a:latin typeface="Calibri"/>
              </a:rPr>
              <a:t>12 </a:t>
            </a:r>
            <a:r>
              <a:rPr sz="4400" b="1" dirty="0" err="1">
                <a:solidFill>
                  <a:srgbClr val="3B82F6"/>
                </a:solidFill>
                <a:latin typeface="Calibri"/>
              </a:rPr>
              <a:t>mois</a:t>
            </a:r>
            <a:endParaRPr sz="4400" b="1" dirty="0">
              <a:solidFill>
                <a:srgbClr val="3B82F6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322243" y="5394960"/>
            <a:ext cx="2682163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3A5F"/>
                </a:solidFill>
                <a:latin typeface="Calibri"/>
              </a:rPr>
              <a:t>durée prévue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87287" y="5212080"/>
            <a:ext cx="2682163" cy="1188720"/>
          </a:xfrm>
          <a:prstGeom prst="rect">
            <a:avLst/>
          </a:prstGeom>
          <a:solidFill>
            <a:srgbClr val="F3F4F6"/>
          </a:solidFill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87287" y="5212080"/>
            <a:ext cx="2682163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87287" y="5577840"/>
            <a:ext cx="2682163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>
                <a:solidFill>
                  <a:srgbClr val="F59E0B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7287" y="5399139"/>
            <a:ext cx="2682163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3A5F"/>
                </a:solidFill>
                <a:latin typeface="Calibri"/>
              </a:rPr>
              <a:t>rôles d'utilisateur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52331" y="5212080"/>
            <a:ext cx="2682163" cy="1188720"/>
          </a:xfrm>
          <a:prstGeom prst="rect">
            <a:avLst/>
          </a:prstGeom>
          <a:solidFill>
            <a:srgbClr val="F3F4F6"/>
          </a:solidFill>
          <a:ln w="31750">
            <a:solidFill>
              <a:srgbClr val="00C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052331" y="5212080"/>
            <a:ext cx="2682163" cy="137160"/>
          </a:xfrm>
          <a:prstGeom prst="rect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052331" y="5577840"/>
            <a:ext cx="2682163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>
                <a:solidFill>
                  <a:srgbClr val="00C264"/>
                </a:solidFill>
                <a:latin typeface="Calibr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331" y="5394960"/>
            <a:ext cx="2682163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3A5F"/>
                </a:solidFill>
                <a:latin typeface="Calibri"/>
              </a:rPr>
              <a:t>modules livrés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Louis Beaujoin — CDA 2025-2026 — Mai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73152"/>
          </a:xfrm>
          <a:prstGeom prst="rect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CESIZen — Soutenance Bloc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4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Ce qui a été livré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097280" cy="54864"/>
          </a:xfrm>
          <a:prstGeom prst="rect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C264"/>
                </a:solidFill>
                <a:latin typeface="Calibri"/>
              </a:rPr>
              <a:t>3 modules + une application mobile en bonus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567" y="2103120"/>
            <a:ext cx="3657600" cy="2926080"/>
          </a:xfrm>
          <a:prstGeom prst="rect">
            <a:avLst/>
          </a:prstGeom>
          <a:solidFill>
            <a:srgbClr val="F3F4F6"/>
          </a:solidFill>
          <a:ln w="31750">
            <a:solidFill>
              <a:srgbClr val="00C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6567" y="2103120"/>
            <a:ext cx="3657600" cy="457200"/>
          </a:xfrm>
          <a:prstGeom prst="rect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63727" y="2167128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3727" y="2148840"/>
            <a:ext cx="32918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00C264"/>
                </a:solidFill>
                <a:latin typeface="Calibri"/>
              </a:rPr>
              <a:t>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207" y="214884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Comptes utilisateurs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5207" y="21488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Obligatoire</a:t>
            </a:r>
          </a:p>
        </p:txBody>
      </p:sp>
      <p:sp>
        <p:nvSpPr>
          <p:cNvPr id="15" name="Oval 14"/>
          <p:cNvSpPr/>
          <p:nvPr/>
        </p:nvSpPr>
        <p:spPr>
          <a:xfrm>
            <a:off x="609447" y="2834640"/>
            <a:ext cx="109728" cy="109728"/>
          </a:xfrm>
          <a:prstGeom prst="ellipse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8047" y="27432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1E3A5F"/>
                </a:solidFill>
                <a:latin typeface="Calibri"/>
              </a:rPr>
              <a:t>Inscription &amp; connexion</a:t>
            </a:r>
          </a:p>
        </p:txBody>
      </p:sp>
      <p:sp>
        <p:nvSpPr>
          <p:cNvPr id="17" name="Oval 16"/>
          <p:cNvSpPr/>
          <p:nvPr/>
        </p:nvSpPr>
        <p:spPr>
          <a:xfrm>
            <a:off x="609447" y="3246120"/>
            <a:ext cx="109728" cy="109728"/>
          </a:xfrm>
          <a:prstGeom prst="ellipse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8047" y="31546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1E3A5F"/>
                </a:solidFill>
                <a:latin typeface="Calibri"/>
              </a:rPr>
              <a:t>Profil &amp; mot de passe</a:t>
            </a:r>
          </a:p>
        </p:txBody>
      </p:sp>
      <p:sp>
        <p:nvSpPr>
          <p:cNvPr id="19" name="Oval 18"/>
          <p:cNvSpPr/>
          <p:nvPr/>
        </p:nvSpPr>
        <p:spPr>
          <a:xfrm>
            <a:off x="609447" y="3657600"/>
            <a:ext cx="109728" cy="109728"/>
          </a:xfrm>
          <a:prstGeom prst="ellipse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8047" y="35661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1E3A5F"/>
                </a:solidFill>
                <a:latin typeface="Calibri"/>
              </a:rPr>
              <a:t>Gestion par administrateur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67047" y="2103120"/>
            <a:ext cx="3657600" cy="2926080"/>
          </a:xfrm>
          <a:prstGeom prst="rect">
            <a:avLst/>
          </a:prstGeom>
          <a:solidFill>
            <a:srgbClr val="F3F4F6"/>
          </a:solidFill>
          <a:ln w="317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67047" y="2103120"/>
            <a:ext cx="36576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404207" y="2167128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04207" y="2148840"/>
            <a:ext cx="32918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3B82F6"/>
                </a:solidFill>
                <a:latin typeface="Calibri"/>
              </a:rPr>
              <a:t>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15687" y="214884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Informations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15687" y="21488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Obligatoire</a:t>
            </a:r>
          </a:p>
        </p:txBody>
      </p:sp>
      <p:sp>
        <p:nvSpPr>
          <p:cNvPr id="27" name="Oval 26"/>
          <p:cNvSpPr/>
          <p:nvPr/>
        </p:nvSpPr>
        <p:spPr>
          <a:xfrm>
            <a:off x="4449927" y="2834640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78527" y="27432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1E3A5F"/>
                </a:solidFill>
                <a:latin typeface="Calibri"/>
              </a:rPr>
              <a:t>Pages santé mentale</a:t>
            </a:r>
          </a:p>
        </p:txBody>
      </p:sp>
      <p:sp>
        <p:nvSpPr>
          <p:cNvPr id="29" name="Oval 28"/>
          <p:cNvSpPr/>
          <p:nvPr/>
        </p:nvSpPr>
        <p:spPr>
          <a:xfrm>
            <a:off x="4449927" y="3246120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78527" y="31546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1E3A5F"/>
                </a:solidFill>
                <a:latin typeface="Calibri"/>
              </a:rPr>
              <a:t>Consultation publique</a:t>
            </a:r>
          </a:p>
        </p:txBody>
      </p:sp>
      <p:sp>
        <p:nvSpPr>
          <p:cNvPr id="31" name="Oval 30"/>
          <p:cNvSpPr/>
          <p:nvPr/>
        </p:nvSpPr>
        <p:spPr>
          <a:xfrm>
            <a:off x="4449927" y="3657600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78527" y="35661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1E3A5F"/>
                </a:solidFill>
                <a:latin typeface="Calibri"/>
              </a:rPr>
              <a:t>Édition par administrateur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07527" y="2103120"/>
            <a:ext cx="3657600" cy="2926080"/>
          </a:xfrm>
          <a:prstGeom prst="rect">
            <a:avLst/>
          </a:prstGeom>
          <a:solidFill>
            <a:srgbClr val="F3F4F6"/>
          </a:solidFill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107527" y="2103120"/>
            <a:ext cx="36576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244687" y="2167128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44687" y="2148840"/>
            <a:ext cx="32918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Calibri"/>
              </a:rPr>
              <a:t>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56167" y="214884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Respiration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56167" y="21488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Au choix</a:t>
            </a:r>
          </a:p>
        </p:txBody>
      </p:sp>
      <p:sp>
        <p:nvSpPr>
          <p:cNvPr id="39" name="Oval 38"/>
          <p:cNvSpPr/>
          <p:nvPr/>
        </p:nvSpPr>
        <p:spPr>
          <a:xfrm>
            <a:off x="8290407" y="283464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19007" y="27432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1E3A5F"/>
                </a:solidFill>
                <a:latin typeface="Calibri"/>
              </a:rPr>
              <a:t>3 méthodes prédéfinies</a:t>
            </a:r>
          </a:p>
        </p:txBody>
      </p:sp>
      <p:sp>
        <p:nvSpPr>
          <p:cNvPr id="41" name="Oval 40"/>
          <p:cNvSpPr/>
          <p:nvPr/>
        </p:nvSpPr>
        <p:spPr>
          <a:xfrm>
            <a:off x="8290407" y="324612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19007" y="31546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1E3A5F"/>
                </a:solidFill>
                <a:latin typeface="Calibri"/>
              </a:rPr>
              <a:t>Mode personnalisé</a:t>
            </a:r>
          </a:p>
        </p:txBody>
      </p:sp>
      <p:sp>
        <p:nvSpPr>
          <p:cNvPr id="43" name="Oval 42"/>
          <p:cNvSpPr/>
          <p:nvPr/>
        </p:nvSpPr>
        <p:spPr>
          <a:xfrm>
            <a:off x="8290407" y="365760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19007" y="35661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1E3A5F"/>
                </a:solidFill>
                <a:latin typeface="Calibri"/>
              </a:rPr>
              <a:t>Animation guidée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394960"/>
            <a:ext cx="11247120" cy="731520"/>
          </a:xfrm>
          <a:prstGeom prst="rect">
            <a:avLst/>
          </a:prstGeom>
          <a:solidFill>
            <a:srgbClr val="FFDF5D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5645304"/>
            <a:ext cx="112471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dirty="0">
                <a:solidFill>
                  <a:srgbClr val="1E3A5F"/>
                </a:solidFill>
                <a:latin typeface="Calibri"/>
              </a:rPr>
              <a:t>+ Application Android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Louis Beaujoin — CDA 2025-2026 — Mai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73152"/>
          </a:xfrm>
          <a:prstGeom prst="rect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CESIZen — Soutenance Bloc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5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Comment l'application est construite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097280" cy="54864"/>
          </a:xfrm>
          <a:prstGeom prst="rect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C264"/>
                </a:solidFill>
                <a:latin typeface="Calibri"/>
              </a:rPr>
              <a:t>Une application web + une application mobile autonome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194560"/>
            <a:ext cx="2103120" cy="9144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219456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060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Visiteur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834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Ordinateur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2194560"/>
            <a:ext cx="2103120" cy="9144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219456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6060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Visiteur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834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Mobile (Web)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2194560"/>
            <a:ext cx="2103120" cy="9144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0" y="219456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6060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Visiteur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834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App. Android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3108960"/>
            <a:ext cx="91440" cy="457200"/>
          </a:xfrm>
          <a:prstGeom prst="rect">
            <a:avLst/>
          </a:prstGeom>
          <a:solidFill>
            <a:srgbClr val="6B7280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Down Arrow 21"/>
          <p:cNvSpPr/>
          <p:nvPr/>
        </p:nvSpPr>
        <p:spPr>
          <a:xfrm>
            <a:off x="2286000" y="3108960"/>
            <a:ext cx="274320" cy="45720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35040" y="3108960"/>
            <a:ext cx="91440" cy="457200"/>
          </a:xfrm>
          <a:prstGeom prst="rect">
            <a:avLst/>
          </a:prstGeom>
          <a:solidFill>
            <a:srgbClr val="6B7280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own Arrow 23"/>
          <p:cNvSpPr/>
          <p:nvPr/>
        </p:nvSpPr>
        <p:spPr>
          <a:xfrm>
            <a:off x="5943600" y="3108960"/>
            <a:ext cx="274320" cy="45720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692640" y="3108960"/>
            <a:ext cx="91440" cy="457200"/>
          </a:xfrm>
          <a:prstGeom prst="rect">
            <a:avLst/>
          </a:prstGeom>
          <a:solidFill>
            <a:srgbClr val="6B7280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Down Arrow 25"/>
          <p:cNvSpPr/>
          <p:nvPr/>
        </p:nvSpPr>
        <p:spPr>
          <a:xfrm>
            <a:off x="9601200" y="3108960"/>
            <a:ext cx="274320" cy="45720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4400" y="3840480"/>
            <a:ext cx="7315200" cy="1371600"/>
          </a:xfrm>
          <a:prstGeom prst="rect">
            <a:avLst/>
          </a:prstGeom>
          <a:solidFill>
            <a:srgbClr val="00C264"/>
          </a:solidFill>
          <a:ln>
            <a:solidFill>
              <a:srgbClr val="00C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Application Web (Laravel + Blade)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  <a:latin typeface="Calibri"/>
              </a:rPr>
              <a:t>Inscription • </a:t>
            </a:r>
            <a:r>
              <a:rPr sz="1200" b="0" dirty="0" err="1">
                <a:solidFill>
                  <a:srgbClr val="FFFFFF"/>
                </a:solidFill>
                <a:latin typeface="Calibri"/>
              </a:rPr>
              <a:t>Connexion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• </a:t>
            </a:r>
            <a:r>
              <a:rPr sz="1200" b="0" dirty="0" err="1">
                <a:solidFill>
                  <a:srgbClr val="FFFFFF"/>
                </a:solidFill>
                <a:latin typeface="Calibri"/>
              </a:rPr>
              <a:t>Profil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• </a:t>
            </a:r>
            <a:r>
              <a:rPr sz="1200" b="0" dirty="0" err="1">
                <a:solidFill>
                  <a:srgbClr val="FFFFFF"/>
                </a:solidFill>
                <a:latin typeface="Calibri"/>
              </a:rPr>
              <a:t>Informations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• Respiration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7548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dirty="0">
                <a:solidFill>
                  <a:srgbClr val="FFFFFF"/>
                </a:solidFill>
                <a:latin typeface="Calibri"/>
              </a:rPr>
              <a:t>+ Back-office Administration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0" y="3840480"/>
            <a:ext cx="2926080" cy="13716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0" y="39319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Application Android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42519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fr-FR" sz="1200" dirty="0">
                <a:solidFill>
                  <a:srgbClr val="FFFFFF"/>
                </a:solidFill>
              </a:rPr>
              <a:t>Inscription • Connexion • Profil • Informations • Respiration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49149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dirty="0">
                <a:solidFill>
                  <a:srgbClr val="FFFFFF"/>
                </a:solidFill>
                <a:latin typeface="Calibri"/>
              </a:rPr>
              <a:t>(</a:t>
            </a:r>
            <a:r>
              <a:rPr sz="1000" b="0" dirty="0" err="1">
                <a:solidFill>
                  <a:srgbClr val="FFFFFF"/>
                </a:solidFill>
                <a:latin typeface="Calibri"/>
              </a:rPr>
              <a:t>autonome</a:t>
            </a:r>
            <a:r>
              <a:rPr sz="1000" b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1000" b="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1000" b="0" dirty="0">
                <a:solidFill>
                  <a:srgbClr val="FFFFFF"/>
                </a:solidFill>
                <a:latin typeface="Calibri"/>
              </a:rPr>
              <a:t> local)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4434840" y="5257800"/>
            <a:ext cx="274320" cy="36576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286000" y="5577840"/>
            <a:ext cx="4572000" cy="82296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286000" y="55778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Base de données MySQL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59893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Utilisateurs • Pages • Exercices • Séances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Louis Beaujoin — CDA 2025-2026 — Mai 2026</a:t>
            </a:r>
          </a:p>
        </p:txBody>
      </p:sp>
      <p:sp>
        <p:nvSpPr>
          <p:cNvPr id="42" name="TextBox 29">
            <a:extLst>
              <a:ext uri="{FF2B5EF4-FFF2-40B4-BE49-F238E27FC236}">
                <a16:creationId xmlns:a16="http://schemas.microsoft.com/office/drawing/2014/main" id="{E096326D-3E58-AC6A-1561-E6EAF6AD5C1A}"/>
              </a:ext>
            </a:extLst>
          </p:cNvPr>
          <p:cNvSpPr txBox="1"/>
          <p:nvPr/>
        </p:nvSpPr>
        <p:spPr>
          <a:xfrm>
            <a:off x="6563032" y="46634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dirty="0">
                <a:solidFill>
                  <a:srgbClr val="FFFFFF"/>
                </a:solidFill>
                <a:latin typeface="Calibri"/>
              </a:rPr>
              <a:t>+ Back-office Administration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73152"/>
          </a:xfrm>
          <a:prstGeom prst="rect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CESIZen — Soutenance Bloc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6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MLD de la base de données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097280" cy="54864"/>
          </a:xfrm>
          <a:prstGeom prst="rect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C264"/>
                </a:solidFill>
                <a:latin typeface="Calibri"/>
              </a:rPr>
              <a:t>Structure de la base de données relationnelle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194560"/>
            <a:ext cx="2103120" cy="9144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0" y="2194560"/>
            <a:ext cx="2103120" cy="9144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686800" y="2194560"/>
            <a:ext cx="2103120" cy="9144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377440" y="3108960"/>
            <a:ext cx="91440" cy="457200"/>
          </a:xfrm>
          <a:prstGeom prst="rect">
            <a:avLst/>
          </a:prstGeom>
          <a:solidFill>
            <a:srgbClr val="6B7280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Down Arrow 21"/>
          <p:cNvSpPr/>
          <p:nvPr/>
        </p:nvSpPr>
        <p:spPr>
          <a:xfrm>
            <a:off x="2286000" y="3108960"/>
            <a:ext cx="274320" cy="45720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35040" y="3108960"/>
            <a:ext cx="91440" cy="457200"/>
          </a:xfrm>
          <a:prstGeom prst="rect">
            <a:avLst/>
          </a:prstGeom>
          <a:solidFill>
            <a:srgbClr val="6B7280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own Arrow 23"/>
          <p:cNvSpPr/>
          <p:nvPr/>
        </p:nvSpPr>
        <p:spPr>
          <a:xfrm>
            <a:off x="5943600" y="3108960"/>
            <a:ext cx="274320" cy="45720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692640" y="3108960"/>
            <a:ext cx="91440" cy="457200"/>
          </a:xfrm>
          <a:prstGeom prst="rect">
            <a:avLst/>
          </a:prstGeom>
          <a:solidFill>
            <a:srgbClr val="6B7280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Down Arrow 25"/>
          <p:cNvSpPr/>
          <p:nvPr/>
        </p:nvSpPr>
        <p:spPr>
          <a:xfrm>
            <a:off x="9601200" y="3108960"/>
            <a:ext cx="274320" cy="45720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4400" y="3840480"/>
            <a:ext cx="7315200" cy="1371600"/>
          </a:xfrm>
          <a:prstGeom prst="rect">
            <a:avLst/>
          </a:prstGeom>
          <a:solidFill>
            <a:srgbClr val="00C264"/>
          </a:solidFill>
          <a:ln>
            <a:solidFill>
              <a:srgbClr val="00C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686800" y="3840480"/>
            <a:ext cx="2926080" cy="13716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Down Arrow 34"/>
          <p:cNvSpPr/>
          <p:nvPr/>
        </p:nvSpPr>
        <p:spPr>
          <a:xfrm>
            <a:off x="4434840" y="5257800"/>
            <a:ext cx="274320" cy="36576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286000" y="5577840"/>
            <a:ext cx="4572000" cy="82296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Louis Beaujoin — CDA 2025-2026 — Mai 2026</a:t>
            </a:r>
          </a:p>
        </p:txBody>
      </p:sp>
      <p:pic>
        <p:nvPicPr>
          <p:cNvPr id="40" name="Picture 39" descr="cesizen_ml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11680"/>
            <a:ext cx="10972800" cy="43115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73152"/>
          </a:xfrm>
          <a:prstGeom prst="rect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CESIZen — Soutenance Bloc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7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Pourquoi nous avons choisi ces technologies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097280" cy="54864"/>
          </a:xfrm>
          <a:prstGeom prst="rect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C264"/>
                </a:solidFill>
                <a:latin typeface="Calibri"/>
              </a:rPr>
              <a:t>Un comparatif a été fait domaine par domaine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2011680"/>
          <a:ext cx="56692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217920" y="2011680"/>
          <a:ext cx="56692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4937760"/>
          <a:ext cx="11247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Domaine</a:t>
                      </a:r>
                    </a:p>
                  </a:txBody>
                  <a:tcPr marL="80000" marR="80000" marT="40000" marB="4000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Notre choix</a:t>
                      </a:r>
                    </a:p>
                  </a:txBody>
                  <a:tcPr marL="80000" marR="80000" marT="40000" marB="4000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En quelques mots</a:t>
                      </a:r>
                    </a:p>
                  </a:txBody>
                  <a:tcPr marL="80000" marR="80000" marT="40000" marB="40000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3A5F"/>
                          </a:solidFill>
                          <a:latin typeface="Calibri"/>
                        </a:rPr>
                        <a:t>Application web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3A5F"/>
                          </a:solidFill>
                          <a:latin typeface="Calibri"/>
                        </a:rPr>
                        <a:t>Laravel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3A5F"/>
                          </a:solidFill>
                          <a:latin typeface="Calibri"/>
                        </a:rPr>
                        <a:t>Rapide à développer, sécurisé d'origine, idéal pour 3 mois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3A5F"/>
                          </a:solidFill>
                          <a:latin typeface="Calibri"/>
                        </a:rPr>
                        <a:t>Affichage des pages</a:t>
                      </a:r>
                    </a:p>
                  </a:txBody>
                  <a:tcPr marL="80000" marR="80000" marT="40000" marB="4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3A5F"/>
                          </a:solidFill>
                          <a:latin typeface="Calibri"/>
                        </a:rPr>
                        <a:t>Vues Blade</a:t>
                      </a:r>
                    </a:p>
                  </a:txBody>
                  <a:tcPr marL="80000" marR="80000" marT="40000" marB="4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3A5F"/>
                          </a:solidFill>
                          <a:latin typeface="Calibri"/>
                        </a:rPr>
                        <a:t>Solution intégrée à Laravel, simple et efficace</a:t>
                      </a:r>
                    </a:p>
                  </a:txBody>
                  <a:tcPr marL="80000" marR="80000" marT="40000" marB="400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3A5F"/>
                          </a:solidFill>
                          <a:latin typeface="Calibri"/>
                        </a:rPr>
                        <a:t>Base de données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3A5F"/>
                          </a:solidFill>
                          <a:latin typeface="Calibri"/>
                        </a:rPr>
                        <a:t>MySQL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3A5F"/>
                          </a:solidFill>
                          <a:latin typeface="Calibri"/>
                        </a:rPr>
                        <a:t>Disponible immédiatement, robuste, gratuit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3A5F"/>
                          </a:solidFill>
                          <a:latin typeface="Calibri"/>
                        </a:rPr>
                        <a:t>Application mobile</a:t>
                      </a:r>
                    </a:p>
                  </a:txBody>
                  <a:tcPr marL="80000" marR="80000" marT="40000" marB="4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3A5F"/>
                          </a:solidFill>
                          <a:latin typeface="Calibri"/>
                        </a:rPr>
                        <a:t>Android natif (Kotlin)</a:t>
                      </a:r>
                    </a:p>
                  </a:txBody>
                  <a:tcPr marL="80000" marR="80000" marT="40000" marB="4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3A5F"/>
                          </a:solidFill>
                          <a:latin typeface="Calibri"/>
                        </a:rPr>
                        <a:t>Performances optimales et démonstration mobile-first</a:t>
                      </a:r>
                    </a:p>
                  </a:txBody>
                  <a:tcPr marL="80000" marR="80000" marT="40000" marB="400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Louis Beaujoin — CDA 2025-2026 — Mai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73152"/>
          </a:xfrm>
          <a:prstGeom prst="rect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CESIZen — Soutenance Bloc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8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Ce qui diffère du cahier des charges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097280" cy="54864"/>
          </a:xfrm>
          <a:prstGeom prst="rect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C264"/>
                </a:solidFill>
                <a:latin typeface="Calibri"/>
              </a:rPr>
              <a:t>Trois choix différents — chacun est justifié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10312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Domaine</a:t>
                      </a:r>
                    </a:p>
                  </a:txBody>
                  <a:tcPr marL="80000" marR="80000" marT="40000" marB="4000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Prévu</a:t>
                      </a:r>
                    </a:p>
                  </a:txBody>
                  <a:tcPr marL="80000" marR="80000" marT="40000" marB="4000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Livré</a:t>
                      </a:r>
                    </a:p>
                  </a:txBody>
                  <a:tcPr marL="80000" marR="80000" marT="40000" marB="4000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Pourquoi</a:t>
                      </a:r>
                    </a:p>
                  </a:txBody>
                  <a:tcPr marL="80000" marR="80000" marT="40000" marB="40000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Calibri"/>
                        </a:rPr>
                        <a:t>Frontend Web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Calibri"/>
                        </a:rPr>
                        <a:t>Next.js (React)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Calibri"/>
                        </a:rPr>
                        <a:t>Laravel + Blade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Calibri"/>
                        </a:rPr>
                        <a:t>Délai serré → priorité à la productivité (gain ~40%)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Calibri"/>
                        </a:rPr>
                        <a:t>Base de données</a:t>
                      </a:r>
                    </a:p>
                  </a:txBody>
                  <a:tcPr marL="80000" marR="80000" marT="40000" marB="4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Calibri"/>
                        </a:rPr>
                        <a:t>PostgreSQL</a:t>
                      </a:r>
                    </a:p>
                  </a:txBody>
                  <a:tcPr marL="80000" marR="80000" marT="40000" marB="4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Calibri"/>
                        </a:rPr>
                        <a:t>MySQL</a:t>
                      </a:r>
                    </a:p>
                  </a:txBody>
                  <a:tcPr marL="80000" marR="80000" marT="40000" marB="4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Calibri"/>
                        </a:rPr>
                        <a:t>MySQL disponible immédiatement, volume géré sans souci</a:t>
                      </a:r>
                    </a:p>
                  </a:txBody>
                  <a:tcPr marL="80000" marR="80000" marT="40000" marB="400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Calibri"/>
                        </a:rPr>
                        <a:t>Mobile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Calibri"/>
                        </a:rPr>
                        <a:t>React Native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Calibri"/>
                        </a:rPr>
                        <a:t>Android natif (Kotlin)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Calibri"/>
                        </a:rPr>
                        <a:t>Pas de code partageable côté Web. Kotlin natif performant.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Calibri"/>
                        </a:rPr>
                        <a:t>Modules au choix</a:t>
                      </a:r>
                    </a:p>
                  </a:txBody>
                  <a:tcPr marL="80000" marR="80000" marT="40000" marB="4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Calibri"/>
                        </a:rPr>
                        <a:t>1 module au choix</a:t>
                      </a:r>
                    </a:p>
                  </a:txBody>
                  <a:tcPr marL="80000" marR="80000" marT="40000" marB="4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Calibri"/>
                        </a:rPr>
                        <a:t>1 livré : respiration</a:t>
                      </a:r>
                    </a:p>
                  </a:txBody>
                  <a:tcPr marL="80000" marR="80000" marT="40000" marB="4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Calibri"/>
                        </a:rPr>
                        <a:t>Conforme : 2 obligatoires + 1 au choix. Autres = v2.</a:t>
                      </a:r>
                    </a:p>
                  </a:txBody>
                  <a:tcPr marL="80000" marR="80000" marT="40000" marB="400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486400"/>
            <a:ext cx="11247120" cy="640080"/>
          </a:xfrm>
          <a:prstGeom prst="rect">
            <a:avLst/>
          </a:prstGeom>
          <a:solidFill>
            <a:srgbClr val="00C264"/>
          </a:solidFill>
          <a:ln>
            <a:solidFill>
              <a:srgbClr val="00C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54864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 Tous les besoins du cahier des charges sont couverts.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Louis Beaujoin — CDA 2025-2026 — Mai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73152"/>
          </a:xfrm>
          <a:prstGeom prst="rect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CESIZen — Soutenance Bloc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9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Sécurité et protection des données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097280" cy="54864"/>
          </a:xfrm>
          <a:prstGeom prst="rect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C264"/>
                </a:solidFill>
                <a:latin typeface="Calibri"/>
              </a:rPr>
              <a:t>Ce qui est mis en place pour protéger les utilisateurs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18007" y="2194560"/>
            <a:ext cx="2651760" cy="3291840"/>
          </a:xfrm>
          <a:prstGeom prst="rect">
            <a:avLst/>
          </a:prstGeom>
          <a:solidFill>
            <a:srgbClr val="F3F4F6"/>
          </a:solidFill>
          <a:ln w="31750">
            <a:solidFill>
              <a:srgbClr val="00C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432407" y="2468880"/>
            <a:ext cx="822960" cy="822960"/>
          </a:xfrm>
          <a:prstGeom prst="ellipse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8007" y="256032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007" y="342900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E3A5F"/>
                </a:solidFill>
                <a:latin typeface="Calibri"/>
              </a:rPr>
              <a:t>Mots de passe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887" y="388620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1E3A5F"/>
                </a:solidFill>
                <a:latin typeface="Calibri"/>
              </a:rPr>
              <a:t>Cryptés à la création.
Jamais lisibles en clair,
même par les admins.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2647" y="2194560"/>
            <a:ext cx="2651760" cy="3291840"/>
          </a:xfrm>
          <a:prstGeom prst="rect">
            <a:avLst/>
          </a:prstGeom>
          <a:solidFill>
            <a:srgbClr val="F3F4F6"/>
          </a:solidFill>
          <a:ln w="317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267047" y="2468880"/>
            <a:ext cx="822960" cy="8229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52647" y="256032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2647" y="342900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E3A5F"/>
                </a:solidFill>
                <a:latin typeface="Calibri"/>
              </a:rPr>
              <a:t>Accès 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5527" y="388620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1E3A5F"/>
                </a:solidFill>
                <a:latin typeface="Calibri"/>
              </a:rPr>
              <a:t>Vérification systématique
avant chaque page sensible.
Réservé aux 'admin'.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7287" y="2194560"/>
            <a:ext cx="2651760" cy="3291840"/>
          </a:xfrm>
          <a:prstGeom prst="rect">
            <a:avLst/>
          </a:prstGeom>
          <a:solidFill>
            <a:srgbClr val="F3F4F6"/>
          </a:solidFill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101687" y="2468880"/>
            <a:ext cx="822960" cy="8229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87287" y="256032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7287" y="342900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E3A5F"/>
                </a:solidFill>
                <a:latin typeface="Calibri"/>
              </a:rPr>
              <a:t>Données personnelles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0167" y="388620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1E3A5F"/>
                </a:solidFill>
                <a:latin typeface="Calibri"/>
              </a:rPr>
              <a:t>Stockage en UE uniquement.
Aucun transfert hors UE.
Conforme RGPD.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21927" y="2194560"/>
            <a:ext cx="2651760" cy="3291840"/>
          </a:xfrm>
          <a:prstGeom prst="rect">
            <a:avLst/>
          </a:prstGeom>
          <a:solidFill>
            <a:srgbClr val="F3F4F6"/>
          </a:solidFill>
          <a:ln w="317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936327" y="2468880"/>
            <a:ext cx="822960" cy="8229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21927" y="256032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21927" y="342900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E3A5F"/>
                </a:solidFill>
                <a:latin typeface="Calibri"/>
              </a:rPr>
              <a:t>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4807" y="388620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1E3A5F"/>
                </a:solidFill>
                <a:latin typeface="Calibri"/>
              </a:rPr>
              <a:t>Toutes les entrées vérifiées
avant traitement.
Protection anti-manipulation.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Louis Beaujoin — CDA 2025-2026 — Mai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73152"/>
          </a:xfrm>
          <a:prstGeom prst="rect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CESIZen — Soutenance Bloc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10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Démonstration de l'application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097280" cy="54864"/>
          </a:xfrm>
          <a:prstGeom prst="rect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C264"/>
                </a:solidFill>
                <a:latin typeface="Calibri"/>
              </a:rPr>
              <a:t>Un scénario en 4 actes — environ 5 minutes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103120"/>
            <a:ext cx="822960" cy="822960"/>
          </a:xfrm>
          <a:prstGeom prst="ellipse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2103120"/>
            <a:ext cx="10241280" cy="822960"/>
          </a:xfrm>
          <a:prstGeom prst="rect">
            <a:avLst/>
          </a:prstGeom>
          <a:solidFill>
            <a:srgbClr val="F3F4F6"/>
          </a:solidFill>
          <a:ln w="19050">
            <a:solidFill>
              <a:srgbClr val="00C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45920" y="21488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  <a:latin typeface="Calibri"/>
              </a:rPr>
              <a:t>Acte 1 — Visiteur curieux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5146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E3A5F"/>
                </a:solidFill>
                <a:latin typeface="Calibri"/>
              </a:rPr>
              <a:t>Accueil → Page d'information → Lecture cohérence cardiaque → Exercice 5-5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108960"/>
            <a:ext cx="822960" cy="8229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10896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3108960"/>
            <a:ext cx="10241280" cy="822960"/>
          </a:xfrm>
          <a:prstGeom prst="rect">
            <a:avLst/>
          </a:prstGeom>
          <a:solidFill>
            <a:srgbClr val="F3F4F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645920" y="3154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  <a:latin typeface="Calibri"/>
              </a:rPr>
              <a:t>Acte 2 — Inscription &amp; connexion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520440"/>
            <a:ext cx="100584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 err="1">
                <a:solidFill>
                  <a:srgbClr val="1E3A5F"/>
                </a:solidFill>
                <a:latin typeface="Calibri"/>
              </a:rPr>
              <a:t>Création</a:t>
            </a:r>
            <a:r>
              <a:rPr sz="1100" b="0" dirty="0">
                <a:solidFill>
                  <a:srgbClr val="1E3A5F"/>
                </a:solidFill>
                <a:latin typeface="Calibri"/>
              </a:rPr>
              <a:t> de compte → </a:t>
            </a:r>
            <a:r>
              <a:rPr sz="1100" b="0" dirty="0" err="1">
                <a:solidFill>
                  <a:srgbClr val="1E3A5F"/>
                </a:solidFill>
                <a:latin typeface="Calibri"/>
              </a:rPr>
              <a:t>Connexion</a:t>
            </a:r>
            <a:r>
              <a:rPr sz="1100" b="0" dirty="0">
                <a:solidFill>
                  <a:srgbClr val="1E3A5F"/>
                </a:solidFill>
                <a:latin typeface="Calibri"/>
              </a:rPr>
              <a:t> → </a:t>
            </a:r>
            <a:r>
              <a:rPr sz="1100" b="0" dirty="0" err="1">
                <a:solidFill>
                  <a:srgbClr val="1E3A5F"/>
                </a:solidFill>
                <a:latin typeface="Calibri"/>
              </a:rPr>
              <a:t>Profil</a:t>
            </a:r>
            <a:r>
              <a:rPr sz="1100" b="0" dirty="0">
                <a:solidFill>
                  <a:srgbClr val="1E3A5F"/>
                </a:solidFill>
                <a:latin typeface="Calibri"/>
              </a:rPr>
              <a:t> → </a:t>
            </a:r>
            <a:r>
              <a:rPr sz="1100" b="0" dirty="0" err="1">
                <a:solidFill>
                  <a:srgbClr val="1E3A5F"/>
                </a:solidFill>
                <a:latin typeface="Calibri"/>
              </a:rPr>
              <a:t>Exercice</a:t>
            </a:r>
            <a:r>
              <a:rPr sz="1100" b="0" dirty="0">
                <a:solidFill>
                  <a:srgbClr val="1E3A5F"/>
                </a:solidFill>
                <a:latin typeface="Calibri"/>
              </a:rPr>
              <a:t> 7-4-8 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4114800"/>
            <a:ext cx="822960" cy="8229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411480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63040" y="4114800"/>
            <a:ext cx="10241280" cy="822960"/>
          </a:xfrm>
          <a:prstGeom prst="rect">
            <a:avLst/>
          </a:prstGeom>
          <a:solidFill>
            <a:srgbClr val="F3F4F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45920" y="41605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  <a:latin typeface="Calibri"/>
              </a:rPr>
              <a:t>Acte 3 — Administration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5262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E3A5F"/>
                </a:solidFill>
                <a:latin typeface="Calibri"/>
              </a:rPr>
              <a:t>Connexion admin → Tableau de bord → Nouvelle page → Nouvel exercice → Désactivation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5120640"/>
            <a:ext cx="822960" cy="8229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512064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63040" y="5120640"/>
            <a:ext cx="10241280" cy="822960"/>
          </a:xfrm>
          <a:prstGeom prst="rect">
            <a:avLst/>
          </a:prstGeom>
          <a:solidFill>
            <a:srgbClr val="F3F4F6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645920" y="51663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  <a:latin typeface="Calibri"/>
              </a:rPr>
              <a:t>Acte 4 — Application mobile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532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E3A5F"/>
                </a:solidFill>
                <a:latin typeface="Calibri"/>
              </a:rPr>
              <a:t>Lancement Android → Choix d'une méthode → Animation du cercle → Mode personnalisé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Louis Beaujoin — CDA 2025-2026 — Mai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73152"/>
          </a:xfrm>
          <a:prstGeom prst="rect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CESIZen — Soutenance Bloc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11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Les tests : 44 vérifications automatiques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097280" cy="54864"/>
          </a:xfrm>
          <a:prstGeom prst="rect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C264"/>
                </a:solidFill>
                <a:latin typeface="Calibri"/>
              </a:rPr>
              <a:t>Une commande, 3 secondes, 100 % de réussite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2682163" cy="1280160"/>
          </a:xfrm>
          <a:prstGeom prst="rect">
            <a:avLst/>
          </a:prstGeom>
          <a:solidFill>
            <a:srgbClr val="F3F4F6"/>
          </a:solidFill>
          <a:ln w="31750">
            <a:solidFill>
              <a:srgbClr val="00C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2682163" cy="137160"/>
          </a:xfrm>
          <a:prstGeom prst="rect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468880"/>
            <a:ext cx="2682163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>
                <a:solidFill>
                  <a:srgbClr val="00C264"/>
                </a:solidFill>
                <a:latin typeface="Calibri"/>
              </a:rPr>
              <a:t>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" y="2267712"/>
            <a:ext cx="2682163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dirty="0">
                <a:solidFill>
                  <a:srgbClr val="1E3A5F"/>
                </a:solidFill>
                <a:latin typeface="Calibri"/>
              </a:rPr>
              <a:t>tests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22243" y="2103120"/>
            <a:ext cx="2682163" cy="1280160"/>
          </a:xfrm>
          <a:prstGeom prst="rect">
            <a:avLst/>
          </a:prstGeom>
          <a:solidFill>
            <a:srgbClr val="F3F4F6"/>
          </a:solidFill>
          <a:ln w="317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22243" y="2103120"/>
            <a:ext cx="2682163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22243" y="2468880"/>
            <a:ext cx="2682163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>
                <a:solidFill>
                  <a:srgbClr val="3B82F6"/>
                </a:solidFill>
                <a:latin typeface="Calibri"/>
              </a:rPr>
              <a:t>107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2242" y="2267712"/>
            <a:ext cx="2682163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dirty="0" err="1">
                <a:solidFill>
                  <a:srgbClr val="1E3A5F"/>
                </a:solidFill>
                <a:latin typeface="Calibri"/>
              </a:rPr>
              <a:t>vérifications</a:t>
            </a:r>
            <a:endParaRPr sz="1200" b="0" dirty="0">
              <a:solidFill>
                <a:srgbClr val="1E3A5F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187287" y="2103120"/>
            <a:ext cx="2682163" cy="1280160"/>
          </a:xfrm>
          <a:prstGeom prst="rect">
            <a:avLst/>
          </a:prstGeom>
          <a:solidFill>
            <a:srgbClr val="F3F4F6"/>
          </a:solidFill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87287" y="2103120"/>
            <a:ext cx="2682163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87287" y="2468880"/>
            <a:ext cx="2682163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>
                <a:solidFill>
                  <a:srgbClr val="F59E0B"/>
                </a:solidFill>
                <a:latin typeface="Calibri"/>
              </a:rPr>
              <a:t>3.04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7287" y="2267712"/>
            <a:ext cx="2682163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dirty="0">
                <a:solidFill>
                  <a:srgbClr val="1E3A5F"/>
                </a:solidFill>
                <a:latin typeface="Calibri"/>
              </a:rPr>
              <a:t>durée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331" y="2103120"/>
            <a:ext cx="2682163" cy="1280160"/>
          </a:xfrm>
          <a:prstGeom prst="rect">
            <a:avLst/>
          </a:prstGeom>
          <a:solidFill>
            <a:srgbClr val="F3F4F6"/>
          </a:solidFill>
          <a:ln w="317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52331" y="2103120"/>
            <a:ext cx="2682163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52331" y="2468880"/>
            <a:ext cx="2682163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>
                <a:solidFill>
                  <a:srgbClr val="1E3A5F"/>
                </a:solidFill>
                <a:latin typeface="Calibri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2157" y="2263140"/>
            <a:ext cx="2682163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dirty="0" err="1">
                <a:solidFill>
                  <a:srgbClr val="1E3A5F"/>
                </a:solidFill>
                <a:latin typeface="Calibri"/>
              </a:rPr>
              <a:t>réussite</a:t>
            </a:r>
            <a:endParaRPr sz="1200" b="0" dirty="0">
              <a:solidFill>
                <a:srgbClr val="1E3A5F"/>
              </a:solidFill>
              <a:latin typeface="Calibri"/>
            </a:endParaRP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57200" y="3657600"/>
          <a:ext cx="5486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6217920" y="3657600"/>
          <a:ext cx="5486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Louis Beaujoin — CDA 2025-2026 — Mai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73152"/>
          </a:xfrm>
          <a:prstGeom prst="rect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CESIZen — Soutenance Bloc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12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Comment se valide la recette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097280" cy="54864"/>
          </a:xfrm>
          <a:prstGeom prst="rect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C264"/>
                </a:solidFill>
                <a:latin typeface="Calibri"/>
              </a:rPr>
              <a:t>4 étapes formalisées, en présence du client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103120"/>
            <a:ext cx="914400" cy="914400"/>
          </a:xfrm>
          <a:prstGeom prst="ellipse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4480" y="2103120"/>
            <a:ext cx="10149840" cy="914400"/>
          </a:xfrm>
          <a:prstGeom prst="rect">
            <a:avLst/>
          </a:prstGeom>
          <a:solidFill>
            <a:srgbClr val="F3F4F6"/>
          </a:solidFill>
          <a:ln w="19050">
            <a:solidFill>
              <a:srgbClr val="00C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737360" y="2176272"/>
            <a:ext cx="9966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Préparation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606040"/>
            <a:ext cx="9966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1E3A5F"/>
                </a:solidFill>
                <a:latin typeface="Calibri"/>
              </a:rPr>
              <a:t>Mise à zéro des données, comptes prêts, environnement figé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108960"/>
            <a:ext cx="914400" cy="914400"/>
          </a:xfrm>
          <a:prstGeom prst="ellipse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10896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0" y="3108960"/>
            <a:ext cx="10149840" cy="914400"/>
          </a:xfrm>
          <a:prstGeom prst="rect">
            <a:avLst/>
          </a:prstGeom>
          <a:solidFill>
            <a:srgbClr val="F3F4F6"/>
          </a:solidFill>
          <a:ln w="19050">
            <a:solidFill>
              <a:srgbClr val="00C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737360" y="3182112"/>
            <a:ext cx="9966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Exécution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611880"/>
            <a:ext cx="9966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1E3A5F"/>
                </a:solidFill>
                <a:latin typeface="Calibri"/>
              </a:rPr>
              <a:t>Déroulé en direct des 24 scénarios prévus, en présence du client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4114800"/>
            <a:ext cx="914400" cy="914400"/>
          </a:xfrm>
          <a:prstGeom prst="ellipse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411480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4480" y="4114800"/>
            <a:ext cx="10149840" cy="914400"/>
          </a:xfrm>
          <a:prstGeom prst="rect">
            <a:avLst/>
          </a:prstGeom>
          <a:solidFill>
            <a:srgbClr val="F3F4F6"/>
          </a:solidFill>
          <a:ln w="19050">
            <a:solidFill>
              <a:srgbClr val="00C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737360" y="4187952"/>
            <a:ext cx="9966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Décision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617720"/>
            <a:ext cx="9966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1E3A5F"/>
                </a:solidFill>
                <a:latin typeface="Calibri"/>
              </a:rPr>
              <a:t>Le client prononce : validé / avec réserves / refusé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5120640"/>
            <a:ext cx="914400" cy="914400"/>
          </a:xfrm>
          <a:prstGeom prst="ellipse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512064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54480" y="5120640"/>
            <a:ext cx="10149840" cy="914400"/>
          </a:xfrm>
          <a:prstGeom prst="rect">
            <a:avLst/>
          </a:prstGeom>
          <a:solidFill>
            <a:srgbClr val="F3F4F6"/>
          </a:solidFill>
          <a:ln w="19050">
            <a:solidFill>
              <a:srgbClr val="00C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737360" y="5193792"/>
            <a:ext cx="9966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Signature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5623560"/>
            <a:ext cx="9966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1E3A5F"/>
                </a:solidFill>
                <a:latin typeface="Calibri"/>
              </a:rPr>
              <a:t>Le procès-verbal est signé et archivé dans le dossier projet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Louis Beaujoin — CDA 2025-2026 — Mai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73152"/>
          </a:xfrm>
          <a:prstGeom prst="rect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CESIZen — Soutenance Bloc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13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Difficultés, apprentissages, perspectives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097280" cy="54864"/>
          </a:xfrm>
          <a:prstGeom prst="rect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26567" y="1828800"/>
            <a:ext cx="3657600" cy="4114800"/>
          </a:xfrm>
          <a:prstGeom prst="rect">
            <a:avLst/>
          </a:prstGeom>
          <a:solidFill>
            <a:srgbClr val="F3F4F6"/>
          </a:solidFill>
          <a:ln w="317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6567" y="1828800"/>
            <a:ext cx="365760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6567" y="182880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Difficultés</a:t>
            </a:r>
          </a:p>
        </p:txBody>
      </p:sp>
      <p:sp>
        <p:nvSpPr>
          <p:cNvPr id="11" name="Oval 10"/>
          <p:cNvSpPr/>
          <p:nvPr/>
        </p:nvSpPr>
        <p:spPr>
          <a:xfrm>
            <a:off x="655167" y="2670048"/>
            <a:ext cx="146304" cy="14630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9487" y="256032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E3A5F"/>
                </a:solidFill>
                <a:latin typeface="Calibri"/>
              </a:rPr>
              <a:t>Choix techniques sous contrainte de temps</a:t>
            </a:r>
          </a:p>
        </p:txBody>
      </p:sp>
      <p:sp>
        <p:nvSpPr>
          <p:cNvPr id="13" name="Oval 12"/>
          <p:cNvSpPr/>
          <p:nvPr/>
        </p:nvSpPr>
        <p:spPr>
          <a:xfrm>
            <a:off x="655167" y="3447288"/>
            <a:ext cx="146304" cy="14630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9487" y="333756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E3A5F"/>
                </a:solidFill>
                <a:latin typeface="Calibri"/>
              </a:rPr>
              <a:t>Synchroniser l'animation et le décompte</a:t>
            </a:r>
          </a:p>
        </p:txBody>
      </p:sp>
      <p:sp>
        <p:nvSpPr>
          <p:cNvPr id="15" name="Oval 14"/>
          <p:cNvSpPr/>
          <p:nvPr/>
        </p:nvSpPr>
        <p:spPr>
          <a:xfrm>
            <a:off x="655167" y="4224528"/>
            <a:ext cx="146304" cy="14630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9487" y="411480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E3A5F"/>
                </a:solidFill>
                <a:latin typeface="Calibri"/>
              </a:rPr>
              <a:t>Mettre en place des données de test fiables</a:t>
            </a:r>
          </a:p>
        </p:txBody>
      </p:sp>
      <p:sp>
        <p:nvSpPr>
          <p:cNvPr id="17" name="Oval 16"/>
          <p:cNvSpPr/>
          <p:nvPr/>
        </p:nvSpPr>
        <p:spPr>
          <a:xfrm>
            <a:off x="655167" y="5001768"/>
            <a:ext cx="146304" cy="14630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9487" y="489204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E3A5F"/>
                </a:solidFill>
                <a:latin typeface="Calibri"/>
              </a:rPr>
              <a:t>Documenter clairement sans jargon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67047" y="1828800"/>
            <a:ext cx="3657600" cy="4114800"/>
          </a:xfrm>
          <a:prstGeom prst="rect">
            <a:avLst/>
          </a:prstGeom>
          <a:solidFill>
            <a:srgbClr val="F3F4F6"/>
          </a:solidFill>
          <a:ln w="31750">
            <a:solidFill>
              <a:srgbClr val="00C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67047" y="1828800"/>
            <a:ext cx="3657600" cy="548640"/>
          </a:xfrm>
          <a:prstGeom prst="rect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67047" y="182880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Apprentissages</a:t>
            </a:r>
          </a:p>
        </p:txBody>
      </p:sp>
      <p:sp>
        <p:nvSpPr>
          <p:cNvPr id="22" name="Oval 21"/>
          <p:cNvSpPr/>
          <p:nvPr/>
        </p:nvSpPr>
        <p:spPr>
          <a:xfrm>
            <a:off x="4495647" y="2670048"/>
            <a:ext cx="146304" cy="146304"/>
          </a:xfrm>
          <a:prstGeom prst="ellipse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69967" y="256032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E3A5F"/>
                </a:solidFill>
                <a:latin typeface="Calibri"/>
              </a:rPr>
              <a:t>Pyramide des tests (unitaires + fonctionnels + non-régression)</a:t>
            </a:r>
          </a:p>
        </p:txBody>
      </p:sp>
      <p:sp>
        <p:nvSpPr>
          <p:cNvPr id="24" name="Oval 23"/>
          <p:cNvSpPr/>
          <p:nvPr/>
        </p:nvSpPr>
        <p:spPr>
          <a:xfrm>
            <a:off x="4495647" y="3447288"/>
            <a:ext cx="146304" cy="146304"/>
          </a:xfrm>
          <a:prstGeom prst="ellipse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69967" y="333756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E3A5F"/>
                </a:solidFill>
                <a:latin typeface="Calibri"/>
              </a:rPr>
              <a:t>Structurer une application en MVC</a:t>
            </a:r>
          </a:p>
        </p:txBody>
      </p:sp>
      <p:sp>
        <p:nvSpPr>
          <p:cNvPr id="26" name="Oval 25"/>
          <p:cNvSpPr/>
          <p:nvPr/>
        </p:nvSpPr>
        <p:spPr>
          <a:xfrm>
            <a:off x="4495647" y="4224528"/>
            <a:ext cx="146304" cy="146304"/>
          </a:xfrm>
          <a:prstGeom prst="ellipse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69967" y="411480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E3A5F"/>
                </a:solidFill>
                <a:latin typeface="Calibri"/>
              </a:rPr>
              <a:t>Sécuriser accès et mots de passe</a:t>
            </a:r>
          </a:p>
        </p:txBody>
      </p:sp>
      <p:sp>
        <p:nvSpPr>
          <p:cNvPr id="28" name="Oval 27"/>
          <p:cNvSpPr/>
          <p:nvPr/>
        </p:nvSpPr>
        <p:spPr>
          <a:xfrm>
            <a:off x="4495647" y="5001768"/>
            <a:ext cx="146304" cy="146304"/>
          </a:xfrm>
          <a:prstGeom prst="ellipse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69967" y="489204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E3A5F"/>
                </a:solidFill>
                <a:latin typeface="Calibri"/>
              </a:rPr>
              <a:t>Produire une documentation lisible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07527" y="1828800"/>
            <a:ext cx="3657600" cy="4114800"/>
          </a:xfrm>
          <a:prstGeom prst="rect">
            <a:avLst/>
          </a:prstGeom>
          <a:solidFill>
            <a:srgbClr val="F3F4F6"/>
          </a:solidFill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07527" y="1828800"/>
            <a:ext cx="365760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07527" y="182880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Perspectives</a:t>
            </a:r>
          </a:p>
        </p:txBody>
      </p:sp>
      <p:sp>
        <p:nvSpPr>
          <p:cNvPr id="33" name="Oval 32"/>
          <p:cNvSpPr/>
          <p:nvPr/>
        </p:nvSpPr>
        <p:spPr>
          <a:xfrm>
            <a:off x="8336127" y="267004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10447" y="256032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E3A5F"/>
                </a:solidFill>
                <a:latin typeface="Calibri"/>
              </a:rPr>
              <a:t>Ajouter le tracker d'émotions</a:t>
            </a:r>
          </a:p>
        </p:txBody>
      </p:sp>
      <p:sp>
        <p:nvSpPr>
          <p:cNvPr id="35" name="Oval 34"/>
          <p:cNvSpPr/>
          <p:nvPr/>
        </p:nvSpPr>
        <p:spPr>
          <a:xfrm>
            <a:off x="8336127" y="344728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10447" y="333756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E3A5F"/>
                </a:solidFill>
                <a:latin typeface="Calibri"/>
              </a:rPr>
              <a:t>Ajouter le diagnostic de stress</a:t>
            </a:r>
          </a:p>
        </p:txBody>
      </p:sp>
      <p:sp>
        <p:nvSpPr>
          <p:cNvPr id="37" name="Oval 36"/>
          <p:cNvSpPr/>
          <p:nvPr/>
        </p:nvSpPr>
        <p:spPr>
          <a:xfrm>
            <a:off x="8336127" y="422452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10447" y="411480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E3A5F"/>
                </a:solidFill>
                <a:latin typeface="Calibri"/>
              </a:rPr>
              <a:t>Ajouter le catalogue d'activités</a:t>
            </a:r>
          </a:p>
        </p:txBody>
      </p:sp>
      <p:sp>
        <p:nvSpPr>
          <p:cNvPr id="39" name="Oval 38"/>
          <p:cNvSpPr/>
          <p:nvPr/>
        </p:nvSpPr>
        <p:spPr>
          <a:xfrm>
            <a:off x="8336127" y="500176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10447" y="489204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E3A5F"/>
                </a:solidFill>
                <a:latin typeface="Calibri"/>
              </a:rPr>
              <a:t>Tests automatiques en continu (CI/CD)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Louis Beaujoin — CDA 2025-2026 — Mai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73152"/>
          </a:xfrm>
          <a:prstGeom prst="rect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CESIZen — Soutenance Bloc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14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Et la suite 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097280" cy="54864"/>
          </a:xfrm>
          <a:prstGeom prst="rect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C264"/>
                </a:solidFill>
                <a:latin typeface="Calibri"/>
              </a:rPr>
              <a:t>Une version 2 enrichie est envisageable rapidement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18007" y="2194560"/>
            <a:ext cx="2651760" cy="3291840"/>
          </a:xfrm>
          <a:prstGeom prst="rect">
            <a:avLst/>
          </a:prstGeom>
          <a:solidFill>
            <a:srgbClr val="F3F4F6"/>
          </a:solidFill>
          <a:ln w="317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432407" y="2468880"/>
            <a:ext cx="822960" cy="8229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8007" y="256032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007" y="342900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E3A5F"/>
                </a:solidFill>
                <a:latin typeface="Calibri"/>
              </a:rPr>
              <a:t>Tracker d'émotions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887" y="388620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1E3A5F"/>
                </a:solidFill>
                <a:latin typeface="Calibri"/>
              </a:rPr>
              <a:t>Journal quotidien : enregistrer ses émotions jour après jour.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2647" y="2194560"/>
            <a:ext cx="2651760" cy="3291840"/>
          </a:xfrm>
          <a:prstGeom prst="rect">
            <a:avLst/>
          </a:prstGeom>
          <a:solidFill>
            <a:srgbClr val="F3F4F6"/>
          </a:solidFill>
          <a:ln w="31750">
            <a:solidFill>
              <a:srgbClr val="00C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267047" y="2468880"/>
            <a:ext cx="822960" cy="822960"/>
          </a:xfrm>
          <a:prstGeom prst="ellipse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52647" y="256032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2647" y="342900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E3A5F"/>
                </a:solidFill>
                <a:latin typeface="Calibri"/>
              </a:rPr>
              <a:t>Diagnostic de stress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5527" y="388620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1E3A5F"/>
                </a:solidFill>
                <a:latin typeface="Calibri"/>
              </a:rPr>
              <a:t>Questionnaire scientifique Holmes &amp; Rahe avec score et conseils.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7287" y="2194560"/>
            <a:ext cx="2651760" cy="3291840"/>
          </a:xfrm>
          <a:prstGeom prst="rect">
            <a:avLst/>
          </a:prstGeom>
          <a:solidFill>
            <a:srgbClr val="F3F4F6"/>
          </a:solidFill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101687" y="2468880"/>
            <a:ext cx="822960" cy="8229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87287" y="256032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7287" y="342900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E3A5F"/>
                </a:solidFill>
                <a:latin typeface="Calibri"/>
              </a:rPr>
              <a:t>Activités de détente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0167" y="388620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1E3A5F"/>
                </a:solidFill>
                <a:latin typeface="Calibri"/>
              </a:rPr>
              <a:t>Catalogue d'activités (méditation, marche...) avec favoris.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21927" y="2194560"/>
            <a:ext cx="2651760" cy="3291840"/>
          </a:xfrm>
          <a:prstGeom prst="rect">
            <a:avLst/>
          </a:prstGeom>
          <a:solidFill>
            <a:srgbClr val="F3F4F6"/>
          </a:solidFill>
          <a:ln w="317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936327" y="2468880"/>
            <a:ext cx="822960" cy="8229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21927" y="256032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21927" y="342900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E3A5F"/>
                </a:solidFill>
                <a:latin typeface="Calibri"/>
              </a:rPr>
              <a:t>Améliorations continues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4807" y="388620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1E3A5F"/>
                </a:solidFill>
                <a:latin typeface="Calibri"/>
              </a:rPr>
              <a:t>Audits d'accessibilité, intégration continue, performance.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Louis Beaujoin — CDA 2025-2026 — Mai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73152"/>
          </a:xfrm>
          <a:prstGeom prst="rect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Merci de votre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FFDF5D"/>
                </a:solidFill>
                <a:latin typeface="Calibri"/>
              </a:rPr>
              <a:t>Place aux questions et à la démonstration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98067" y="2743200"/>
            <a:ext cx="2377440" cy="1463040"/>
          </a:xfrm>
          <a:prstGeom prst="rect">
            <a:avLst/>
          </a:prstGeom>
          <a:solidFill>
            <a:srgbClr val="F3F4F6"/>
          </a:solidFill>
          <a:ln w="31750">
            <a:solidFill>
              <a:srgbClr val="00C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98067" y="2743200"/>
            <a:ext cx="2377440" cy="91440"/>
          </a:xfrm>
          <a:prstGeom prst="rect">
            <a:avLst/>
          </a:prstGeom>
          <a:solidFill>
            <a:srgbClr val="00C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98067" y="292608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00C264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8067" y="37490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1E3A5F"/>
                </a:solidFill>
                <a:latin typeface="Calibri"/>
              </a:rPr>
              <a:t>modules livrés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4107" y="2743200"/>
            <a:ext cx="2377440" cy="1463040"/>
          </a:xfrm>
          <a:prstGeom prst="rect">
            <a:avLst/>
          </a:prstGeom>
          <a:solidFill>
            <a:srgbClr val="F3F4F6"/>
          </a:solidFill>
          <a:ln w="317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04107" y="2743200"/>
            <a:ext cx="2377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04107" y="292608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3B82F6"/>
                </a:solidFill>
                <a:latin typeface="Calibri"/>
              </a:rPr>
              <a:t>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4107" y="37490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1E3A5F"/>
                </a:solidFill>
                <a:latin typeface="Calibri"/>
              </a:rPr>
              <a:t>scénarios validés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743200"/>
            <a:ext cx="2377440" cy="1463040"/>
          </a:xfrm>
          <a:prstGeom prst="rect">
            <a:avLst/>
          </a:prstGeom>
          <a:solidFill>
            <a:srgbClr val="F3F4F6"/>
          </a:solidFill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0147" y="2743200"/>
            <a:ext cx="237744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0147" y="292608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F59E0B"/>
                </a:solidFill>
                <a:latin typeface="Calibri"/>
              </a:rPr>
              <a:t>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0147" y="37490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1E3A5F"/>
                </a:solidFill>
                <a:latin typeface="Calibri"/>
              </a:rPr>
              <a:t>tests verts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16187" y="2743200"/>
            <a:ext cx="2377440" cy="1463040"/>
          </a:xfrm>
          <a:prstGeom prst="rect">
            <a:avLst/>
          </a:prstGeom>
          <a:solidFill>
            <a:srgbClr val="F3F4F6"/>
          </a:solidFill>
          <a:ln w="31750">
            <a:solidFill>
              <a:srgbClr val="FFD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816187" y="2743200"/>
            <a:ext cx="2377440" cy="91440"/>
          </a:xfrm>
          <a:prstGeom prst="rect">
            <a:avLst/>
          </a:prstGeom>
          <a:solidFill>
            <a:srgbClr val="FFD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16187" y="292608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FFDF5D"/>
                </a:solidFill>
                <a:latin typeface="Calibri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16187" y="37490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1E3A5F"/>
                </a:solidFill>
                <a:latin typeface="Calibri"/>
              </a:rPr>
              <a:t>objectifs atteints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00C264"/>
                </a:solidFill>
                <a:latin typeface="Calibri"/>
              </a:rPr>
              <a:t>Synthèse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120640"/>
            <a:ext cx="9418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✓  Livré dans les délais et le périmètre demandé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440679"/>
            <a:ext cx="9418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✓  Architecture claire : application web + mobile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760720"/>
            <a:ext cx="9418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✓  44 tests automatiques garantissent la stabilité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6080759"/>
            <a:ext cx="9418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✓  Écarts au cahier des charges justifiés et tracés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Louis Beaujoin — Concepteur Développeur d'Applications — CDA 2025-2026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1174</Words>
  <Application>Microsoft Office PowerPoint</Application>
  <PresentationFormat>Grand écran</PresentationFormat>
  <Paragraphs>282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BEAUJOIN LOUIS</cp:lastModifiedBy>
  <cp:revision>7</cp:revision>
  <dcterms:created xsi:type="dcterms:W3CDTF">2013-01-27T09:14:16Z</dcterms:created>
  <dcterms:modified xsi:type="dcterms:W3CDTF">2026-05-21T11:53:35Z</dcterms:modified>
  <cp:category/>
</cp:coreProperties>
</file>